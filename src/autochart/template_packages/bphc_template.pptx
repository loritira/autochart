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modernComment_10A_D1F0D0C7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8"/>
  </p:notesMasterIdLst>
  <p:sldIdLst>
    <p:sldId id="314" r:id="rId5"/>
    <p:sldId id="266" r:id="rId6"/>
    <p:sldId id="32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18E847-8186-D47A-3C91-205976479079}" name="Murphy, Johnna" initials="JM" userId="S::JMurphy@bphc.org::73d5248c-2509-411b-aefe-8494deedb1b3" providerId="AD"/>
  <p188:author id="{D49F6087-F34D-EC91-EB39-01CA2F5AA9FD}" name="Hansen, Julia" initials="HJ" userId="S::jhansen@bphc.org::6081461b-40db-45d0-8f8b-0c7aa1e21efc" providerId="AD"/>
  <p188:author id="{B9A1F2D3-FCAB-4263-B3A0-366027CBDEC8}" name="Murphy, Johnna" initials="MJ" userId="S::jmurphy@bphc.org::73d5248c-2509-411b-aefe-8494deedb1b3" providerId="AD"/>
  <p188:author id="{2377AEF4-E36A-669B-A622-79702812DF71}" name="Underwood, Soraya" initials="US" userId="S::sunderwood@bphc.org::a1a7e520-4a00-423b-9d6d-0f2b3e1d46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>
      <p:cViewPr varScale="1">
        <p:scale>
          <a:sx n="105" d="100"/>
          <a:sy n="105" d="100"/>
        </p:scale>
        <p:origin x="103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omments/modernComment_10A_D1F0D0C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5245A1-E233-44CF-AFAE-A8C5611B9E3F}" authorId="{B9A1F2D3-FCAB-4263-B3A0-366027CBDEC8}" created="2026-03-16T20:07:32.438">
    <pc:sldMkLst xmlns:pc="http://schemas.microsoft.com/office/powerpoint/2013/main/command">
      <pc:docMk/>
      <pc:sldMk cId="3522220231" sldId="266"/>
    </pc:sldMkLst>
    <p188:replyLst>
      <p188:reply id="{A44141A6-0F0C-4645-8B52-229D17C41453}" authorId="{D49F6087-F34D-EC91-EB39-01CA2F5AA9FD}" created="2026-03-17T13:16:23.562">
        <p188:txBody>
          <a:bodyPr/>
          <a:lstStyle/>
          <a:p>
            <a:r>
              <a:rPr lang="en-US"/>
              <a:t>added on next slide</a:t>
            </a:r>
          </a:p>
        </p188:txBody>
      </p188:reply>
    </p188:replyLst>
    <p188:txBody>
      <a:bodyPr/>
      <a:lstStyle/>
      <a:p>
        <a:r>
          <a:rPr lang="en-US"/>
          <a:t>[@Hansen, Julia] can we run this for overall mortality too?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9C644-D2BA-4DAF-B8AF-6FFA1BB670DD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7375FA-4AB7-4762-806D-42D65A05D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75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E3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b="1" spc="-50" baseline="0">
                <a:solidFill>
                  <a:srgbClr val="002060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F263F6-9B45-4C22-9196-5C7FBBEB92ED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Text&#10;&#10;AI-generated content may be incorrect.">
            <a:extLst>
              <a:ext uri="{FF2B5EF4-FFF2-40B4-BE49-F238E27FC236}">
                <a16:creationId xmlns:a16="http://schemas.microsoft.com/office/drawing/2014/main" id="{813245F6-C2B0-943B-9ECF-0B4709D4DC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0458" y="459676"/>
            <a:ext cx="2090651" cy="230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0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b="1">
                <a:latin typeface="Montserra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itchFamily="2" charset="77"/>
              </a:defRPr>
            </a:lvl1pPr>
            <a:lvl2pPr>
              <a:defRPr>
                <a:latin typeface="Montserrat" pitchFamily="2" charset="77"/>
              </a:defRPr>
            </a:lvl2pPr>
            <a:lvl3pPr>
              <a:defRPr>
                <a:latin typeface="Montserrat" pitchFamily="2" charset="77"/>
              </a:defRPr>
            </a:lvl3pPr>
            <a:lvl4pPr>
              <a:defRPr>
                <a:latin typeface="Montserrat" pitchFamily="2" charset="77"/>
              </a:defRPr>
            </a:lvl4pPr>
            <a:lvl5pPr>
              <a:defRPr>
                <a:latin typeface="Montserra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50FFD-F4B6-42FF-A782-B0C63D63FFE8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49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E3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980865-F8D3-403A-930E-2417F58536F8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Text&#10;&#10;AI-generated content may be incorrect.">
            <a:extLst>
              <a:ext uri="{FF2B5EF4-FFF2-40B4-BE49-F238E27FC236}">
                <a16:creationId xmlns:a16="http://schemas.microsoft.com/office/drawing/2014/main" id="{0E4E9466-29AB-72E0-4F7D-59562C8E2C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0458" y="459676"/>
            <a:ext cx="2090651" cy="230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57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1E5F49-25C9-47DC-AF4E-C9F5E26156CB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235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8E1254-3A67-4276-8BB1-0FBEB60F0A2F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70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E2502-38F6-476C-BCB4-662994C2E11E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184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20AEF2-1B6E-4B4A-A121-71C9AD1268D0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2531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7F2B2-13F1-4DD7-9080-EED131D096A9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2428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3679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rgbClr val="002A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75BE1-FE4E-4388-AAB7-B1113BB2E06D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81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1C8906-8B5F-4946-B20C-20C04182FDED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213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903A6B-F867-4583-83EC-0C443ED21A79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720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0FA633A-D2C7-AF0E-B19B-E0632EB9A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2B5C"/>
                </a:solidFill>
                <a:latin typeface="Lor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0A7BCA3-E5CC-2C23-783F-8BECAC83D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B5C"/>
                </a:solidFill>
                <a:latin typeface="Lora" pitchFamily="2" charset="0"/>
              </a:defRPr>
            </a:lvl1pPr>
            <a:lvl2pPr>
              <a:defRPr>
                <a:solidFill>
                  <a:srgbClr val="002B5C"/>
                </a:solidFill>
                <a:latin typeface="Lora" pitchFamily="2" charset="0"/>
              </a:defRPr>
            </a:lvl2pPr>
            <a:lvl3pPr>
              <a:defRPr>
                <a:solidFill>
                  <a:srgbClr val="002B5C"/>
                </a:solidFill>
                <a:latin typeface="Lora" pitchFamily="2" charset="0"/>
              </a:defRPr>
            </a:lvl3pPr>
            <a:lvl4pPr>
              <a:defRPr>
                <a:solidFill>
                  <a:srgbClr val="002B5C"/>
                </a:solidFill>
                <a:latin typeface="Lora" pitchFamily="2" charset="0"/>
              </a:defRPr>
            </a:lvl4pPr>
            <a:lvl5pPr>
              <a:defRPr>
                <a:solidFill>
                  <a:srgbClr val="002B5C"/>
                </a:solidFill>
                <a:latin typeface="Lora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7027E206-5695-88C9-9FF5-390C6C8296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2145" y="5888962"/>
            <a:ext cx="626622" cy="690563"/>
          </a:xfrm>
          <a:prstGeom prst="rect">
            <a:avLst/>
          </a:prstGeom>
        </p:spPr>
      </p:pic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ABE5E664-C6DF-EB1B-2378-BB20B76C29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204259"/>
            <a:ext cx="5257800" cy="365125"/>
          </a:xfrm>
          <a:prstGeom prst="rect">
            <a:avLst/>
          </a:prstGeom>
        </p:spPr>
        <p:txBody>
          <a:bodyPr anchor="ctr"/>
          <a:lstStyle>
            <a:lvl1pPr>
              <a:defRPr sz="1200" i="0">
                <a:solidFill>
                  <a:schemeClr val="bg2">
                    <a:lumMod val="50000"/>
                  </a:schemeClr>
                </a:solidFill>
                <a:latin typeface="Montserrat" pitchFamily="2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CCBF9">
                    <a:lumMod val="50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+mn-cs"/>
              </a:rPr>
              <a:t>Building a Healthy Boston | boston.gov/bphc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E11FA2EF-2169-1695-459E-0644F0C2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7409" y="6183337"/>
            <a:ext cx="2743200" cy="365126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Lora" pitchFamily="2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AEC83D-460E-4792-BB3B-147AB3CD5F75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ACCBF9">
                    <a:lumMod val="50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ACCBF9">
                  <a:lumMod val="50000"/>
                </a:srgbClr>
              </a:solidFill>
              <a:effectLst/>
              <a:uLnTx/>
              <a:uFillTx/>
              <a:latin typeface="Lora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448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002A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rgbClr val="E3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Montserrat" pitchFamily="2" charset="7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1324B5-6B85-4849-B44F-40D4BC2D1CFE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  <a:latin typeface="Montserrat" pitchFamily="2" charset="77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Boston Public Health Commission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8AE6E7-26BC-4F3E-9D62-4B0547F2500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Text&#10;&#10;AI-generated content may be incorrect.">
            <a:extLst>
              <a:ext uri="{FF2B5EF4-FFF2-40B4-BE49-F238E27FC236}">
                <a16:creationId xmlns:a16="http://schemas.microsoft.com/office/drawing/2014/main" id="{F1A67ECA-9E8F-0AAF-26D9-24DFE9919FE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780" y="263709"/>
            <a:ext cx="1127760" cy="124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14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b="1" kern="1200" spc="-50" baseline="0">
          <a:solidFill>
            <a:srgbClr val="002060"/>
          </a:solidFill>
          <a:latin typeface="Montserrat" pitchFamily="2" charset="77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Montserrat" pitchFamily="2" charset="77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Montserrat" pitchFamily="2" charset="77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Montserrat" pitchFamily="2" charset="77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Montserrat" pitchFamily="2" charset="77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Montserrat" pitchFamily="2" charset="77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0A_D1F0D0C7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298C1-5FAC-90CF-A9BE-69874812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840BE8-8368-7878-983F-D1C3A92A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887" y="1762844"/>
            <a:ext cx="6221622" cy="4353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9A998F-A3D2-34A1-1D3E-22FC5A34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/>
              <a:t>How does cancer affect Black men?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0630426-4207-BF33-E05A-E31ABEC4D85C}"/>
              </a:ext>
            </a:extLst>
          </p:cNvPr>
          <p:cNvSpPr txBox="1">
            <a:spLocks/>
          </p:cNvSpPr>
          <p:nvPr/>
        </p:nvSpPr>
        <p:spPr>
          <a:xfrm>
            <a:off x="1097280" y="1760867"/>
            <a:ext cx="7626590" cy="42175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Montserrat"/>
              </a:rPr>
              <a:t>Cancer Premature Mortality</a:t>
            </a:r>
            <a:r>
              <a:rPr lang="en-US" sz="1600" baseline="30000">
                <a:latin typeface="Montserrat"/>
              </a:rPr>
              <a:t>†</a:t>
            </a:r>
            <a:r>
              <a:rPr lang="en-US" sz="1600">
                <a:latin typeface="Montserrat"/>
              </a:rPr>
              <a:t>, Black Residents, 2018-2024 Combined</a:t>
            </a:r>
          </a:p>
          <a:p>
            <a:endParaRPr lang="en-US" sz="1600"/>
          </a:p>
          <a:p>
            <a:endParaRPr lang="en-US" sz="160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54DEB923-7CC8-590E-B631-83EA7E86E2B5}"/>
              </a:ext>
            </a:extLst>
          </p:cNvPr>
          <p:cNvSpPr txBox="1">
            <a:spLocks/>
          </p:cNvSpPr>
          <p:nvPr/>
        </p:nvSpPr>
        <p:spPr>
          <a:xfrm>
            <a:off x="139814" y="5860329"/>
            <a:ext cx="9259825" cy="112549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900" baseline="30000" dirty="0">
                <a:solidFill>
                  <a:schemeClr val="tx1"/>
                </a:solidFill>
              </a:rPr>
              <a:t>* </a:t>
            </a:r>
            <a:r>
              <a:rPr lang="en-US" sz="900" dirty="0">
                <a:solidFill>
                  <a:schemeClr val="tx1"/>
                </a:solidFill>
              </a:rPr>
              <a:t>Statistically significant difference when compared to reference group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900" baseline="30000" dirty="0"/>
              <a:t>† </a:t>
            </a:r>
            <a:r>
              <a:rPr lang="en-US" sz="900" dirty="0"/>
              <a:t>Age-Adjusted Rates per 100,000 Residents under age 65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sz="900" dirty="0"/>
              <a:t>DATA SOURCE: Boston Resident Deaths, Massachusetts Department of Public Health (2017,2018,2019,2020,2021,2022,2023)</a:t>
            </a:r>
          </a:p>
          <a:p>
            <a:endParaRPr lang="en-US" sz="1050" dirty="0"/>
          </a:p>
          <a:p>
            <a:endParaRPr lang="en-US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7C601-B11C-716F-1948-2A6ACC3035D3}"/>
              </a:ext>
            </a:extLst>
          </p:cNvPr>
          <p:cNvSpPr txBox="1"/>
          <p:nvPr/>
        </p:nvSpPr>
        <p:spPr>
          <a:xfrm>
            <a:off x="8259097" y="2552349"/>
            <a:ext cx="37165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2" charset="77"/>
              </a:rPr>
              <a:t>Black men experienced the highest rates of cancer premature mortality-nearly twice the rate of other male residents.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2" charset="7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242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91DA3F-5789-FB33-05E9-3AD159C0AB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07"/>
          <a:stretch>
            <a:fillRect/>
          </a:stretch>
        </p:blipFill>
        <p:spPr>
          <a:xfrm>
            <a:off x="410564" y="1745143"/>
            <a:ext cx="6180646" cy="4414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1B5ECA-4627-F7DB-1D22-756BB536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/>
              <a:t>Which cancers drive these inequities?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510BE-117B-98ED-FF76-50BF4E9A79E0}"/>
              </a:ext>
            </a:extLst>
          </p:cNvPr>
          <p:cNvSpPr txBox="1"/>
          <p:nvPr/>
        </p:nvSpPr>
        <p:spPr>
          <a:xfrm>
            <a:off x="1097279" y="1740393"/>
            <a:ext cx="1020015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rgbClr val="242424"/>
                </a:solidFill>
                <a:latin typeface="Montserrat"/>
                <a:ea typeface="Calibri"/>
                <a:cs typeface="Calibri"/>
              </a:rPr>
              <a:t>Premature Cancer</a:t>
            </a:r>
            <a:r>
              <a:rPr lang="en-US" b="0" i="0">
                <a:solidFill>
                  <a:srgbClr val="242424"/>
                </a:solidFill>
                <a:effectLst/>
                <a:latin typeface="Montserrat"/>
                <a:ea typeface="Calibri"/>
                <a:cs typeface="Calibri"/>
              </a:rPr>
              <a:t> Mortality</a:t>
            </a:r>
            <a:r>
              <a:rPr lang="en-US" baseline="30000">
                <a:latin typeface="Montserrat"/>
                <a:ea typeface="Calibri"/>
                <a:cs typeface="Calibri"/>
              </a:rPr>
              <a:t>† </a:t>
            </a:r>
            <a:r>
              <a:rPr lang="en-US">
                <a:latin typeface="Montserrat"/>
                <a:ea typeface="Calibri"/>
                <a:cs typeface="Calibri"/>
              </a:rPr>
              <a:t>by Type</a:t>
            </a:r>
            <a:r>
              <a:rPr lang="en-US" b="0" i="0">
                <a:solidFill>
                  <a:srgbClr val="242424"/>
                </a:solidFill>
                <a:effectLst/>
                <a:latin typeface="Montserrat"/>
                <a:ea typeface="Calibri"/>
                <a:cs typeface="Calibri"/>
              </a:rPr>
              <a:t>, Black </a:t>
            </a:r>
            <a:r>
              <a:rPr lang="en-US">
                <a:solidFill>
                  <a:srgbClr val="242424"/>
                </a:solidFill>
                <a:latin typeface="Montserrat"/>
                <a:ea typeface="Calibri"/>
                <a:cs typeface="Calibri"/>
              </a:rPr>
              <a:t>Male Residents</a:t>
            </a:r>
            <a:r>
              <a:rPr lang="en-US" b="0" i="0">
                <a:solidFill>
                  <a:srgbClr val="242424"/>
                </a:solidFill>
                <a:effectLst/>
                <a:latin typeface="Montserrat"/>
                <a:ea typeface="Calibri"/>
                <a:cs typeface="Calibri"/>
              </a:rPr>
              <a:t>, </a:t>
            </a:r>
            <a:r>
              <a:rPr lang="en-US">
                <a:solidFill>
                  <a:srgbClr val="242424"/>
                </a:solidFill>
                <a:latin typeface="Montserrat"/>
                <a:ea typeface="Calibri"/>
                <a:cs typeface="Calibri"/>
              </a:rPr>
              <a:t>2018-2024</a:t>
            </a:r>
            <a:r>
              <a:rPr lang="en-US" b="0" i="0">
                <a:solidFill>
                  <a:srgbClr val="242424"/>
                </a:solidFill>
                <a:effectLst/>
                <a:latin typeface="Montserrat"/>
                <a:ea typeface="Calibri"/>
                <a:cs typeface="Calibri"/>
              </a:rPr>
              <a:t> Combined</a:t>
            </a:r>
            <a:endParaRPr lang="en-US">
              <a:latin typeface="Montserrat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01C85-0DDB-8BE4-F00D-946EC68BD9E1}"/>
              </a:ext>
            </a:extLst>
          </p:cNvPr>
          <p:cNvSpPr txBox="1"/>
          <p:nvPr/>
        </p:nvSpPr>
        <p:spPr>
          <a:xfrm>
            <a:off x="7266547" y="2315431"/>
            <a:ext cx="4663063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latin typeface="Montserrat"/>
              </a:rPr>
              <a:t>Black men had the highest premature mortality rates of all cancers observed-over twice the rate of premature lung, liver, and colorectal cancer deaths and four times the rate of prostate cancer premature death compared to other male residents. 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EDAB8-47FD-2254-1182-21109128BC97}"/>
              </a:ext>
            </a:extLst>
          </p:cNvPr>
          <p:cNvSpPr txBox="1"/>
          <p:nvPr/>
        </p:nvSpPr>
        <p:spPr>
          <a:xfrm>
            <a:off x="7019999" y="5144335"/>
            <a:ext cx="5046688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latin typeface="Montserrat"/>
              </a:rPr>
              <a:t>* Statistically significant difference when compared to reference group </a:t>
            </a:r>
          </a:p>
          <a:p>
            <a:r>
              <a:rPr lang="en-US" sz="1000">
                <a:latin typeface="Montserrat"/>
              </a:rPr>
              <a:t>† Age-Adjusted Rates per 100,000 Residents</a:t>
            </a:r>
          </a:p>
          <a:p>
            <a:r>
              <a:rPr lang="en-US" sz="1000">
                <a:latin typeface="Montserrat"/>
                <a:ea typeface="+mn-lt"/>
                <a:cs typeface="+mn-lt"/>
              </a:rPr>
              <a:t>§ Indicates that rates are based on 20 or fewer cases and should be interpreted with caution</a:t>
            </a:r>
            <a:endParaRPr lang="en-US">
              <a:latin typeface="Montserrat"/>
              <a:ea typeface="+mn-lt"/>
              <a:cs typeface="+mn-lt"/>
            </a:endParaRPr>
          </a:p>
          <a:p>
            <a:r>
              <a:rPr lang="en-US" sz="1000">
                <a:latin typeface="Montserrat"/>
              </a:rPr>
              <a:t>DATA SOURCE: Boston Resident Deaths, Massachusetts Department of Public Health</a:t>
            </a:r>
            <a:endParaRPr lang="en-US" sz="100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2202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766D9-EB89-9A67-F510-D5FD8712C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66AC07-A0D5-CFC2-91FF-17D5C1CAC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32" y="1745316"/>
            <a:ext cx="6266889" cy="43871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669848-A60C-2EE8-03C7-80890986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/>
              <a:t>Which cancers drive these inequities?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5C294B-6E02-24BF-6869-8453A8B4E545}"/>
              </a:ext>
            </a:extLst>
          </p:cNvPr>
          <p:cNvSpPr txBox="1"/>
          <p:nvPr/>
        </p:nvSpPr>
        <p:spPr>
          <a:xfrm>
            <a:off x="1097279" y="1740393"/>
            <a:ext cx="919373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rgbClr val="242424"/>
                </a:solidFill>
                <a:latin typeface="Montserrat"/>
                <a:ea typeface="Calibri"/>
                <a:cs typeface="Calibri"/>
              </a:rPr>
              <a:t>Cancer</a:t>
            </a:r>
            <a:r>
              <a:rPr lang="en-US" b="0" i="0">
                <a:solidFill>
                  <a:srgbClr val="242424"/>
                </a:solidFill>
                <a:effectLst/>
                <a:latin typeface="Montserrat"/>
                <a:ea typeface="Calibri"/>
                <a:cs typeface="Calibri"/>
              </a:rPr>
              <a:t> Mortality</a:t>
            </a:r>
            <a:r>
              <a:rPr lang="en-US" baseline="30000">
                <a:latin typeface="Montserrat"/>
                <a:ea typeface="Calibri"/>
                <a:cs typeface="Calibri"/>
              </a:rPr>
              <a:t>† </a:t>
            </a:r>
            <a:r>
              <a:rPr lang="en-US">
                <a:latin typeface="Montserrat"/>
                <a:ea typeface="Calibri"/>
                <a:cs typeface="Calibri"/>
              </a:rPr>
              <a:t>by Type</a:t>
            </a:r>
            <a:r>
              <a:rPr lang="en-US" b="0" i="0">
                <a:solidFill>
                  <a:srgbClr val="242424"/>
                </a:solidFill>
                <a:effectLst/>
                <a:latin typeface="Montserrat"/>
                <a:ea typeface="Calibri"/>
                <a:cs typeface="Calibri"/>
              </a:rPr>
              <a:t>, Black </a:t>
            </a:r>
            <a:r>
              <a:rPr lang="en-US">
                <a:solidFill>
                  <a:srgbClr val="242424"/>
                </a:solidFill>
                <a:latin typeface="Montserrat"/>
                <a:ea typeface="Calibri"/>
                <a:cs typeface="Calibri"/>
              </a:rPr>
              <a:t>Male Residents</a:t>
            </a:r>
            <a:r>
              <a:rPr lang="en-US" b="0" i="0">
                <a:solidFill>
                  <a:srgbClr val="242424"/>
                </a:solidFill>
                <a:effectLst/>
                <a:latin typeface="Montserrat"/>
                <a:ea typeface="Calibri"/>
                <a:cs typeface="Calibri"/>
              </a:rPr>
              <a:t>, </a:t>
            </a:r>
            <a:r>
              <a:rPr lang="en-US">
                <a:solidFill>
                  <a:srgbClr val="242424"/>
                </a:solidFill>
                <a:latin typeface="Montserrat"/>
                <a:ea typeface="Calibri"/>
                <a:cs typeface="Calibri"/>
              </a:rPr>
              <a:t>2018-2024</a:t>
            </a:r>
            <a:r>
              <a:rPr lang="en-US" b="0" i="0">
                <a:solidFill>
                  <a:srgbClr val="242424"/>
                </a:solidFill>
                <a:effectLst/>
                <a:latin typeface="Montserrat"/>
                <a:ea typeface="Calibri"/>
                <a:cs typeface="Calibri"/>
              </a:rPr>
              <a:t> Combined</a:t>
            </a:r>
            <a:endParaRPr lang="en-US">
              <a:latin typeface="Montserrat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FE4729-26D5-732F-9E49-651B89C77EB4}"/>
              </a:ext>
            </a:extLst>
          </p:cNvPr>
          <p:cNvSpPr txBox="1"/>
          <p:nvPr/>
        </p:nvSpPr>
        <p:spPr>
          <a:xfrm>
            <a:off x="6941558" y="5424482"/>
            <a:ext cx="5046688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latin typeface="Montserrat"/>
              </a:rPr>
              <a:t>* Statistically significant difference when compared to reference group </a:t>
            </a:r>
          </a:p>
          <a:p>
            <a:r>
              <a:rPr lang="en-US" sz="1000">
                <a:latin typeface="Montserrat"/>
              </a:rPr>
              <a:t>† Age-Adjusted Rates per 100,000 Residents</a:t>
            </a:r>
          </a:p>
          <a:p>
            <a:r>
              <a:rPr lang="en-US" sz="1000">
                <a:latin typeface="Montserrat"/>
              </a:rPr>
              <a:t>DATA SOURCE: Boston Resident Deaths, Massachusetts Department of Public Health</a:t>
            </a:r>
            <a:endParaRPr lang="en-US" sz="1000"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E598A-B4A7-F9B7-F134-0E215B8F3F68}"/>
              </a:ext>
            </a:extLst>
          </p:cNvPr>
          <p:cNvSpPr txBox="1"/>
          <p:nvPr/>
        </p:nvSpPr>
        <p:spPr>
          <a:xfrm>
            <a:off x="7027323" y="2278992"/>
            <a:ext cx="50466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tserrat"/>
              </a:rPr>
              <a:t>For all age mortality, Black men also had higher rates of liver, colorectal and prostate cancer-with prostate cancer being almost four times the rate of other male residents. </a:t>
            </a:r>
            <a:endParaRPr lang="en-US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6424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5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C6DEF0"/>
      </a:accent5>
      <a:accent6>
        <a:srgbClr val="CEAA79"/>
      </a:accent6>
      <a:hlink>
        <a:srgbClr val="E37900"/>
      </a:hlink>
      <a:folHlink>
        <a:srgbClr val="0432F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0a9d38-21ae-4c8b-80a9-61f93b3a45b3">
      <Terms xmlns="http://schemas.microsoft.com/office/infopath/2007/PartnerControls"/>
    </lcf76f155ced4ddcb4097134ff3c332f>
    <TaxCatchAll xmlns="60250ed6-6c2b-4093-b96a-64f68eeec0b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9205B3E2941649B47A0BB2F613BE92" ma:contentTypeVersion="15" ma:contentTypeDescription="Create a new document." ma:contentTypeScope="" ma:versionID="f3d4aa814659f7fec4daa4bc07a94018">
  <xsd:schema xmlns:xsd="http://www.w3.org/2001/XMLSchema" xmlns:xs="http://www.w3.org/2001/XMLSchema" xmlns:p="http://schemas.microsoft.com/office/2006/metadata/properties" xmlns:ns2="60250ed6-6c2b-4093-b96a-64f68eeec0b9" xmlns:ns3="740a9d38-21ae-4c8b-80a9-61f93b3a45b3" targetNamespace="http://schemas.microsoft.com/office/2006/metadata/properties" ma:root="true" ma:fieldsID="b741154b3a3e6ba79547729fd612b39e" ns2:_="" ns3:_="">
    <xsd:import namespace="60250ed6-6c2b-4093-b96a-64f68eeec0b9"/>
    <xsd:import namespace="740a9d38-21ae-4c8b-80a9-61f93b3a45b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250ed6-6c2b-4093-b96a-64f68eeec0b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3d2f568c-bb28-4022-9e28-573827523ec7}" ma:internalName="TaxCatchAll" ma:showField="CatchAllData" ma:web="60250ed6-6c2b-4093-b96a-64f68eeec0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0a9d38-21ae-4c8b-80a9-61f93b3a45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b27e7179-6522-4233-b1fa-944bcdc5b5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1ADD02-D5BF-4580-B093-22DAAC111C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2BD551-5160-4D9F-B598-BC2E2A0857E8}">
  <ds:schemaRefs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60250ed6-6c2b-4093-b96a-64f68eeec0b9"/>
    <ds:schemaRef ds:uri="http://schemas.microsoft.com/office/infopath/2007/PartnerControls"/>
    <ds:schemaRef ds:uri="740a9d38-21ae-4c8b-80a9-61f93b3a45b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9DC727C-5857-453E-97DF-8B58CA943C42}">
  <ds:schemaRefs>
    <ds:schemaRef ds:uri="60250ed6-6c2b-4093-b96a-64f68eeec0b9"/>
    <ds:schemaRef ds:uri="740a9d38-21ae-4c8b-80a9-61f93b3a45b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247</Words>
  <Application>Microsoft Macintosh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Calibri</vt:lpstr>
      <vt:lpstr>Lora</vt:lpstr>
      <vt:lpstr>Montserrat</vt:lpstr>
      <vt:lpstr>Retrospect</vt:lpstr>
      <vt:lpstr>How does cancer affect Black men?</vt:lpstr>
      <vt:lpstr>Which cancers drive these inequities?</vt:lpstr>
      <vt:lpstr>Which cancers drive these inequities?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Murphy, Johnna</dc:creator>
  <cp:lastModifiedBy>Lorenzo Tiraboschi</cp:lastModifiedBy>
  <cp:revision>3</cp:revision>
  <dcterms:created xsi:type="dcterms:W3CDTF">2026-03-13T19:22:08Z</dcterms:created>
  <dcterms:modified xsi:type="dcterms:W3CDTF">2026-04-03T16:30:55Z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0x010100F79205B3E2941649B47A0BB2F613BE92</vt:lpwstr>
  </property>
  <property fmtid="{D5CDD505-2E9C-101B-9397-08002B2CF9AE}" pid="3" name="MediaServiceImageTags">
    <vt:lpwstr/>
  </property>
</Properties>
</file>